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9144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2A154"/>
                </a:solidFill>
                <a:latin typeface="맑은 고딕"/>
              </a:rPr>
              <a:t>guitarRoutine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4612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EEF0F4"/>
                </a:solidFill>
                <a:latin typeface="맑은 고딕"/>
              </a:rPr>
              <a:t>기타 연습 시간 · 루틴 관리 웹앱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A2B1"/>
                </a:solidFill>
                <a:latin typeface="맑은 고딕"/>
              </a:rPr>
              <a:t>기획부터 실사용 피드백 반영까지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A154"/>
                </a:solidFill>
                <a:latin typeface="맑은 고딕"/>
              </a:rPr>
              <a:t>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EF0F4"/>
                </a:solidFill>
                <a:latin typeface="맑은 고딕"/>
              </a:rPr>
              <a:t>기획 배경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241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2000" b="1">
                <a:solidFill>
                  <a:srgbClr val="F2A154"/>
                </a:solidFill>
                <a:latin typeface="맑은 고딕"/>
              </a:rPr>
              <a:t>•  </a:t>
            </a:r>
            <a:r>
              <a:rPr sz="2000">
                <a:solidFill>
                  <a:srgbClr val="EEF0F4"/>
                </a:solidFill>
                <a:latin typeface="맑은 고딕"/>
              </a:rPr>
              <a:t>기타 초보 시절, 아무런 루틴 없이 악보만 보며 연습해 효율이 좋지 않았던 경험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2000" b="1">
                <a:solidFill>
                  <a:srgbClr val="F2A154"/>
                </a:solidFill>
                <a:latin typeface="맑은 고딕"/>
              </a:rPr>
              <a:t>•  </a:t>
            </a:r>
            <a:r>
              <a:rPr sz="2000">
                <a:solidFill>
                  <a:srgbClr val="EEF0F4"/>
                </a:solidFill>
                <a:latin typeface="맑은 고딕"/>
              </a:rPr>
              <a:t>"그때부터 루틴을 지키며 연습했다면 지금보다 실력이 더 늘지 않았을까?"라는 마음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2000" b="1">
                <a:solidFill>
                  <a:srgbClr val="F2A154"/>
                </a:solidFill>
                <a:latin typeface="맑은 고딕"/>
              </a:rPr>
              <a:t>•  </a:t>
            </a:r>
            <a:r>
              <a:rPr sz="2000">
                <a:solidFill>
                  <a:srgbClr val="EEF0F4"/>
                </a:solidFill>
                <a:latin typeface="맑은 고딕"/>
              </a:rPr>
              <a:t>그 마음으로, 연습 시간을 스스로 정하고 그 시간 안에서 자신만의 루틴을 만들어
지켜나가는 이 프로젝트를 기획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A154"/>
                </a:solidFill>
                <a:latin typeface="맑은 고딕"/>
              </a:rP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EF0F4"/>
                </a:solidFill>
                <a:latin typeface="맑은 고딕"/>
              </a:rPr>
              <a:t>핵심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2000" b="1">
                <a:solidFill>
                  <a:srgbClr val="F2A154"/>
                </a:solidFill>
                <a:latin typeface="맑은 고딕"/>
              </a:rPr>
              <a:t>•  </a:t>
            </a:r>
            <a:r>
              <a:rPr sz="2000">
                <a:solidFill>
                  <a:srgbClr val="EEF0F4"/>
                </a:solidFill>
                <a:latin typeface="맑은 고딕"/>
              </a:rPr>
              <a:t>총 연습 시간 설정 (시간 + 분)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2000" b="1">
                <a:solidFill>
                  <a:srgbClr val="F2A154"/>
                </a:solidFill>
                <a:latin typeface="맑은 고딕"/>
              </a:rPr>
              <a:t>•  </a:t>
            </a:r>
            <a:r>
              <a:rPr sz="2000">
                <a:solidFill>
                  <a:srgbClr val="EEF0F4"/>
                </a:solidFill>
                <a:latin typeface="맑은 고딕"/>
              </a:rPr>
              <a:t>10 ~ 120분 단위로 원하는 만큼 루틴(이름 + 시간)을 자유롭게 구성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2000" b="1">
                <a:solidFill>
                  <a:srgbClr val="F2A154"/>
                </a:solidFill>
                <a:latin typeface="맑은 고딕"/>
              </a:rPr>
              <a:t>•  </a:t>
            </a:r>
            <a:r>
              <a:rPr sz="2000">
                <a:solidFill>
                  <a:srgbClr val="EEF0F4"/>
                </a:solidFill>
                <a:latin typeface="맑은 고딕"/>
              </a:rPr>
              <a:t>초보자용 루틴 원클릭 적용 — 크로매틱 10분 · 스케일 연습 20분 · 곡 카피 30분 (수정 가능)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2000" b="1">
                <a:solidFill>
                  <a:srgbClr val="F2A154"/>
                </a:solidFill>
                <a:latin typeface="맑은 고딕"/>
              </a:rPr>
              <a:t>•  </a:t>
            </a:r>
            <a:r>
              <a:rPr sz="2000">
                <a:solidFill>
                  <a:srgbClr val="EEF0F4"/>
                </a:solidFill>
                <a:latin typeface="맑은 고딕"/>
              </a:rPr>
              <a:t>총 경과 시간과 현재 루틴 시간을 함께 보여주는 타이머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2000" b="1">
                <a:solidFill>
                  <a:srgbClr val="F2A154"/>
                </a:solidFill>
                <a:latin typeface="맑은 고딕"/>
              </a:rPr>
              <a:t>•  </a:t>
            </a:r>
            <a:r>
              <a:rPr sz="2000">
                <a:solidFill>
                  <a:srgbClr val="EEF0F4"/>
                </a:solidFill>
                <a:latin typeface="맑은 고딕"/>
              </a:rPr>
              <a:t>루틴 종료 시 알림과 함께 다음 루틴으로 자동 안내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ounded Rectangle 6"/>
          <p:cNvSpPr/>
          <p:nvPr/>
        </p:nvSpPr>
        <p:spPr>
          <a:xfrm>
            <a:off x="8521903" y="1207008"/>
            <a:ext cx="3011424" cy="5449824"/>
          </a:xfrm>
          <a:prstGeom prst="roundRect">
            <a:avLst/>
          </a:prstGeom>
          <a:solidFill>
            <a:srgbClr val="242938"/>
          </a:solidFill>
          <a:ln w="12700">
            <a:solidFill>
              <a:srgbClr val="3A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A154"/>
                </a:solidFill>
                <a:latin typeface="맑은 고딕"/>
              </a:rPr>
              <a:t>SCREEN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EF0F4"/>
                </a:solidFill>
                <a:latin typeface="맑은 고딕"/>
              </a:rPr>
              <a:t>시작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603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900" b="1">
                <a:solidFill>
                  <a:srgbClr val="F2A154"/>
                </a:solidFill>
                <a:latin typeface="맑은 고딕"/>
              </a:rPr>
              <a:t>•  </a:t>
            </a:r>
            <a:r>
              <a:rPr sz="1900">
                <a:solidFill>
                  <a:srgbClr val="EEF0F4"/>
                </a:solidFill>
                <a:latin typeface="맑은 고딕"/>
              </a:rPr>
              <a:t>"연습할 시간을 입력해주세요" 문구로 진입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900" b="1">
                <a:solidFill>
                  <a:srgbClr val="F2A154"/>
                </a:solidFill>
                <a:latin typeface="맑은 고딕"/>
              </a:rPr>
              <a:t>•  </a:t>
            </a:r>
            <a:r>
              <a:rPr sz="1900">
                <a:solidFill>
                  <a:srgbClr val="EEF0F4"/>
                </a:solidFill>
                <a:latin typeface="맑은 고딕"/>
              </a:rPr>
              <a:t>시간 · 분을 입력해 직접 루틴을 구성하거나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900" b="1">
                <a:solidFill>
                  <a:srgbClr val="F2A154"/>
                </a:solidFill>
                <a:latin typeface="맑은 고딕"/>
              </a:rPr>
              <a:t>•  </a:t>
            </a:r>
            <a:r>
              <a:rPr sz="1900">
                <a:solidFill>
                  <a:srgbClr val="EEF0F4"/>
                </a:solidFill>
                <a:latin typeface="맑은 고딕"/>
              </a:rPr>
              <a:t>"초보자용 루틴" 버튼으로 바로 시작 가능</a:t>
            </a:r>
          </a:p>
        </p:txBody>
      </p:sp>
      <p:pic>
        <p:nvPicPr>
          <p:cNvPr id="6" name="Picture 5" descr="p1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495" y="1371600"/>
            <a:ext cx="26822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ounded Rectangle 6"/>
          <p:cNvSpPr/>
          <p:nvPr/>
        </p:nvSpPr>
        <p:spPr>
          <a:xfrm>
            <a:off x="8521903" y="1207008"/>
            <a:ext cx="3011424" cy="5449824"/>
          </a:xfrm>
          <a:prstGeom prst="roundRect">
            <a:avLst/>
          </a:prstGeom>
          <a:solidFill>
            <a:srgbClr val="242938"/>
          </a:solidFill>
          <a:ln w="12700">
            <a:solidFill>
              <a:srgbClr val="3A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A154"/>
                </a:solidFill>
                <a:latin typeface="맑은 고딕"/>
              </a:rPr>
              <a:t>SCREEN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EF0F4"/>
                </a:solidFill>
                <a:latin typeface="맑은 고딕"/>
              </a:rPr>
              <a:t>루틴 구성 — 초보자용 루틴 적용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603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900" b="1">
                <a:solidFill>
                  <a:srgbClr val="F2A154"/>
                </a:solidFill>
                <a:latin typeface="맑은 고딕"/>
              </a:rPr>
              <a:t>•  </a:t>
            </a:r>
            <a:r>
              <a:rPr sz="1900">
                <a:solidFill>
                  <a:srgbClr val="EEF0F4"/>
                </a:solidFill>
                <a:latin typeface="맑은 고딕"/>
              </a:rPr>
              <a:t>"초보자용 루틴" 클릭 시 3개 루틴이 자동으로 채워짐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900" b="1">
                <a:solidFill>
                  <a:srgbClr val="F2A154"/>
                </a:solidFill>
                <a:latin typeface="맑은 고딕"/>
              </a:rPr>
              <a:t>•  </a:t>
            </a:r>
            <a:r>
              <a:rPr sz="1900">
                <a:solidFill>
                  <a:srgbClr val="EEF0F4"/>
                </a:solidFill>
                <a:latin typeface="맑은 고딕"/>
              </a:rPr>
              <a:t>루틴 합계가 총 연습 시간과 정확히 같아지면
초록색 안내 문구 표시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900" b="1">
                <a:solidFill>
                  <a:srgbClr val="F2A154"/>
                </a:solidFill>
                <a:latin typeface="맑은 고딕"/>
              </a:rPr>
              <a:t>•  </a:t>
            </a:r>
            <a:r>
              <a:rPr sz="1900">
                <a:solidFill>
                  <a:srgbClr val="EEF0F4"/>
                </a:solidFill>
                <a:latin typeface="맑은 고딕"/>
              </a:rPr>
              <a:t>물론 시간 · 이름 모두 자유롭게 수정 가능</a:t>
            </a:r>
          </a:p>
        </p:txBody>
      </p:sp>
      <p:pic>
        <p:nvPicPr>
          <p:cNvPr id="6" name="Picture 5" descr="p2_beg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495" y="1371600"/>
            <a:ext cx="26822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ounded Rectangle 6"/>
          <p:cNvSpPr/>
          <p:nvPr/>
        </p:nvSpPr>
        <p:spPr>
          <a:xfrm>
            <a:off x="8521903" y="1207008"/>
            <a:ext cx="3011424" cy="5449824"/>
          </a:xfrm>
          <a:prstGeom prst="roundRect">
            <a:avLst/>
          </a:prstGeom>
          <a:solidFill>
            <a:srgbClr val="242938"/>
          </a:solidFill>
          <a:ln w="12700">
            <a:solidFill>
              <a:srgbClr val="3A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A154"/>
                </a:solidFill>
                <a:latin typeface="맑은 고딕"/>
              </a:rPr>
              <a:t>SCREEN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EF0F4"/>
                </a:solidFill>
                <a:latin typeface="맑은 고딕"/>
              </a:rPr>
              <a:t>실행 화면 — 타이머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603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900" b="1">
                <a:solidFill>
                  <a:srgbClr val="F2A154"/>
                </a:solidFill>
                <a:latin typeface="맑은 고딕"/>
              </a:rPr>
              <a:t>•  </a:t>
            </a:r>
            <a:r>
              <a:rPr sz="1900">
                <a:solidFill>
                  <a:srgbClr val="EEF0F4"/>
                </a:solidFill>
                <a:latin typeface="맑은 고딕"/>
              </a:rPr>
              <a:t>총 경과 시간 / 총 연습 시간을 상단에 표시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900" b="1">
                <a:solidFill>
                  <a:srgbClr val="F2A154"/>
                </a:solidFill>
                <a:latin typeface="맑은 고딕"/>
              </a:rPr>
              <a:t>•  </a:t>
            </a:r>
            <a:r>
              <a:rPr sz="1900">
                <a:solidFill>
                  <a:srgbClr val="EEF0F4"/>
                </a:solidFill>
                <a:latin typeface="맑은 고딕"/>
              </a:rPr>
              <a:t>현재 루틴 이름 · 남은 시간 · 진행률 바를 함께 표시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900" b="1">
                <a:solidFill>
                  <a:srgbClr val="F2A154"/>
                </a:solidFill>
                <a:latin typeface="맑은 고딕"/>
              </a:rPr>
              <a:t>•  </a:t>
            </a:r>
            <a:r>
              <a:rPr sz="1900">
                <a:solidFill>
                  <a:srgbClr val="EEF0F4"/>
                </a:solidFill>
                <a:latin typeface="맑은 고딕"/>
              </a:rPr>
              <a:t>루틴 이름 아래 초보자를 위한 쉬운 설명 자동 표시</a:t>
            </a:r>
          </a:p>
        </p:txBody>
      </p:sp>
      <p:pic>
        <p:nvPicPr>
          <p:cNvPr id="6" name="Picture 5" descr="p3_ti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495" y="1371600"/>
            <a:ext cx="26822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A154"/>
                </a:solidFill>
                <a:latin typeface="맑은 고딕"/>
              </a:rPr>
              <a:t>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EF0F4"/>
                </a:solidFill>
                <a:latin typeface="맑은 고딕"/>
              </a:rPr>
              <a:t>실사용 후 발견된 문제점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1">
                <a:solidFill>
                  <a:srgbClr val="E05A5A"/>
                </a:solidFill>
                <a:latin typeface="맑은 고딕"/>
              </a:rPr>
              <a:t>•  </a:t>
            </a:r>
            <a:r>
              <a:rPr sz="1900">
                <a:solidFill>
                  <a:srgbClr val="EEF0F4"/>
                </a:solidFill>
                <a:latin typeface="맑은 고딕"/>
              </a:rPr>
              <a:t>알림 소리가 작아 놓치기 쉽고, 한 루틴만 계속하게 됨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1">
                <a:solidFill>
                  <a:srgbClr val="E05A5A"/>
                </a:solidFill>
                <a:latin typeface="맑은 고딕"/>
              </a:rPr>
              <a:t>•  </a:t>
            </a:r>
            <a:r>
              <a:rPr sz="1900">
                <a:solidFill>
                  <a:srgbClr val="EEF0F4"/>
                </a:solidFill>
                <a:latin typeface="맑은 고딕"/>
              </a:rPr>
              <a:t>총 시간에 정확히 맞춰도 루틴을 계속 추가할 수 있음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1">
                <a:solidFill>
                  <a:srgbClr val="E05A5A"/>
                </a:solidFill>
                <a:latin typeface="맑은 고딕"/>
              </a:rPr>
              <a:t>•  </a:t>
            </a:r>
            <a:r>
              <a:rPr sz="1900">
                <a:solidFill>
                  <a:srgbClr val="EEF0F4"/>
                </a:solidFill>
                <a:latin typeface="맑은 고딕"/>
              </a:rPr>
              <a:t>새로 루틴을 구성할 때 이전 루틴이 남아있어 매번 지워야 함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1">
                <a:solidFill>
                  <a:srgbClr val="E05A5A"/>
                </a:solidFill>
                <a:latin typeface="맑은 고딕"/>
              </a:rPr>
              <a:t>•  </a:t>
            </a:r>
            <a:r>
              <a:rPr sz="1900">
                <a:solidFill>
                  <a:srgbClr val="EEF0F4"/>
                </a:solidFill>
                <a:latin typeface="맑은 고딕"/>
              </a:rPr>
              <a:t>기타 용어를 모르는 초보자는 루틴 시작 자체가 어려움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1">
                <a:solidFill>
                  <a:srgbClr val="E05A5A"/>
                </a:solidFill>
                <a:latin typeface="맑은 고딕"/>
              </a:rPr>
              <a:t>•  </a:t>
            </a:r>
            <a:r>
              <a:rPr sz="1900">
                <a:solidFill>
                  <a:srgbClr val="EEF0F4"/>
                </a:solidFill>
                <a:latin typeface="맑은 고딕"/>
              </a:rPr>
              <a:t>'분' 단위를 매번 직접 입력해야 하는 번거로움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1">
                <a:solidFill>
                  <a:srgbClr val="E05A5A"/>
                </a:solidFill>
                <a:latin typeface="맑은 고딕"/>
              </a:rPr>
              <a:t>•  </a:t>
            </a:r>
            <a:r>
              <a:rPr sz="1900">
                <a:solidFill>
                  <a:srgbClr val="EEF0F4"/>
                </a:solidFill>
                <a:latin typeface="맑은 고딕"/>
              </a:rPr>
              <a:t>루틴이 끝나기 전에는 다음 루틴으로 넘어갈 방법이 없음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A154"/>
                </a:solidFill>
                <a:latin typeface="맑은 고딕"/>
              </a:rPr>
              <a:t>IMPROVEMENT 1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EF0F4"/>
                </a:solidFill>
                <a:latin typeface="맑은 고딕"/>
              </a:rPr>
              <a:t>알림을 확실하게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05A5A"/>
                </a:solidFill>
                <a:latin typeface="맑은 고딕"/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E05A5A"/>
                </a:solidFill>
                <a:latin typeface="맑은 고딕"/>
              </a:rPr>
              <a:t>•  </a:t>
            </a:r>
            <a:r>
              <a:rPr sz="1700">
                <a:solidFill>
                  <a:srgbClr val="EEF0F4"/>
                </a:solidFill>
                <a:latin typeface="맑은 고딕"/>
              </a:rPr>
              <a:t>조용한 비프음 1회만 재생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E05A5A"/>
                </a:solidFill>
                <a:latin typeface="맑은 고딕"/>
              </a:rPr>
              <a:t>•  </a:t>
            </a:r>
            <a:r>
              <a:rPr sz="1700">
                <a:solidFill>
                  <a:srgbClr val="EEF0F4"/>
                </a:solidFill>
                <a:latin typeface="맑은 고딕"/>
              </a:rPr>
              <a:t>화면 변화가 없어 종료 시점을 놓치기 쉬움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AC98A"/>
                </a:solidFill>
                <a:latin typeface="맑은 고딕"/>
              </a:rPr>
              <a:t>After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5AC98A"/>
                </a:solidFill>
                <a:latin typeface="맑은 고딕"/>
              </a:rPr>
              <a:t>•  </a:t>
            </a:r>
            <a:r>
              <a:rPr sz="1700">
                <a:solidFill>
                  <a:srgbClr val="EEF0F4"/>
                </a:solidFill>
                <a:latin typeface="맑은 고딕"/>
              </a:rPr>
              <a:t>사이렌처럼 두 음을 번갈아 울리는 알림음(음량 강화)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5AC98A"/>
                </a:solidFill>
                <a:latin typeface="맑은 고딕"/>
              </a:rPr>
              <a:t>•  </a:t>
            </a:r>
            <a:r>
              <a:rPr sz="1700">
                <a:solidFill>
                  <a:srgbClr val="EEF0F4"/>
                </a:solidFill>
                <a:latin typeface="맑은 고딕"/>
              </a:rPr>
              <a:t>루틴 종료 시 화면이 약 2.4초간 흔들리는 애니메이션 추가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ounded Rectangle 9"/>
          <p:cNvSpPr/>
          <p:nvPr/>
        </p:nvSpPr>
        <p:spPr>
          <a:xfrm>
            <a:off x="8521903" y="1207008"/>
            <a:ext cx="3011424" cy="5449824"/>
          </a:xfrm>
          <a:prstGeom prst="roundRect">
            <a:avLst/>
          </a:prstGeom>
          <a:solidFill>
            <a:srgbClr val="242938"/>
          </a:solidFill>
          <a:ln w="12700">
            <a:solidFill>
              <a:srgbClr val="3A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A154"/>
                </a:solidFill>
                <a:latin typeface="맑은 고딕"/>
              </a:rPr>
              <a:t>IMPROVEMENT 2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EF0F4"/>
                </a:solidFill>
                <a:latin typeface="맑은 고딕"/>
              </a:rPr>
              <a:t>시간 초과 방지 — 루틴 추가 제한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E05A5A"/>
                </a:solidFill>
                <a:latin typeface="맑은 고딕"/>
              </a:rPr>
              <a:t>•  </a:t>
            </a:r>
            <a:r>
              <a:rPr sz="1700">
                <a:solidFill>
                  <a:srgbClr val="EEF0F4"/>
                </a:solidFill>
                <a:latin typeface="맑은 고딕"/>
              </a:rPr>
              <a:t>총 시간을 넘겨도 루틴을 계속 추가할 수 있었음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05A5A"/>
                </a:solidFill>
                <a:latin typeface="맑은 고딕"/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AC98A"/>
                </a:solidFill>
                <a:latin typeface="맑은 고딕"/>
              </a:rPr>
              <a:t>After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5852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 b="1">
                <a:solidFill>
                  <a:srgbClr val="5AC98A"/>
                </a:solidFill>
                <a:latin typeface="맑은 고딕"/>
              </a:rPr>
              <a:t>•  </a:t>
            </a:r>
            <a:r>
              <a:rPr sz="1700">
                <a:solidFill>
                  <a:srgbClr val="EEF0F4"/>
                </a:solidFill>
                <a:latin typeface="맑은 고딕"/>
              </a:rPr>
              <a:t>루틴 합계가 총 시간과 같아지는 순간
"+ 루틴 추가" 버튼이 자동으로 비활성화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 b="1">
                <a:solidFill>
                  <a:srgbClr val="5AC98A"/>
                </a:solidFill>
                <a:latin typeface="맑은 고딕"/>
              </a:rPr>
              <a:t>•  </a:t>
            </a:r>
            <a:r>
              <a:rPr sz="1700">
                <a:solidFill>
                  <a:srgbClr val="EEF0F4"/>
                </a:solidFill>
                <a:latin typeface="맑은 고딕"/>
              </a:rPr>
              <a:t>정확히 채웠을 때는 초록색 안내,
초과했을 때는 빨간색 경고로 구분 표시</a:t>
            </a:r>
          </a:p>
        </p:txBody>
      </p:sp>
      <p:pic>
        <p:nvPicPr>
          <p:cNvPr id="9" name="Picture 8" descr="p4_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495" y="1371600"/>
            <a:ext cx="26822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ounded Rectangle 9"/>
          <p:cNvSpPr/>
          <p:nvPr/>
        </p:nvSpPr>
        <p:spPr>
          <a:xfrm>
            <a:off x="8521903" y="1207008"/>
            <a:ext cx="3011424" cy="5449824"/>
          </a:xfrm>
          <a:prstGeom prst="roundRect">
            <a:avLst/>
          </a:prstGeom>
          <a:solidFill>
            <a:srgbClr val="242938"/>
          </a:solidFill>
          <a:ln w="12700">
            <a:solidFill>
              <a:srgbClr val="3A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A154"/>
                </a:solidFill>
                <a:latin typeface="맑은 고딕"/>
              </a:rPr>
              <a:t>IMPROVEMENT 3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EF0F4"/>
                </a:solidFill>
                <a:latin typeface="맑은 고딕"/>
              </a:rPr>
              <a:t>이전 루틴, 번거롭지 않게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05A5A"/>
                </a:solidFill>
                <a:latin typeface="맑은 고딕"/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852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E05A5A"/>
                </a:solidFill>
                <a:latin typeface="맑은 고딕"/>
              </a:rPr>
              <a:t>•  </a:t>
            </a:r>
            <a:r>
              <a:rPr sz="1700">
                <a:solidFill>
                  <a:srgbClr val="EEF0F4"/>
                </a:solidFill>
                <a:latin typeface="맑은 고딕"/>
              </a:rPr>
              <a:t>새로 시간을 설정해도 이전에 입력했던 루틴이
그대로 남아있어 매번 직접 지워야 했음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AC98A"/>
                </a:solidFill>
                <a:latin typeface="맑은 고딕"/>
              </a:rPr>
              <a:t>After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5852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5AC98A"/>
                </a:solidFill>
                <a:latin typeface="맑은 고딕"/>
              </a:rPr>
              <a:t>•  </a:t>
            </a:r>
            <a:r>
              <a:rPr sz="1700">
                <a:solidFill>
                  <a:srgbClr val="EEF0F4"/>
                </a:solidFill>
                <a:latin typeface="맑은 고딕"/>
              </a:rPr>
              <a:t>루틴 설정 화면에 들어갈 때마다
"이전 루틴을 가져오시겠습니까?" 확인창 표시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5AC98A"/>
                </a:solidFill>
                <a:latin typeface="맑은 고딕"/>
              </a:rPr>
              <a:t>•  </a:t>
            </a:r>
            <a:r>
              <a:rPr sz="1700">
                <a:solidFill>
                  <a:srgbClr val="EEF0F4"/>
                </a:solidFill>
                <a:latin typeface="맑은 고딕"/>
              </a:rPr>
              <a:t>예 / 아니오 / 다시 보지 않기 세 가지로 응답</a:t>
            </a:r>
          </a:p>
        </p:txBody>
      </p:sp>
      <p:pic>
        <p:nvPicPr>
          <p:cNvPr id="9" name="Picture 8" descr="p7_re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495" y="1371600"/>
            <a:ext cx="26822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ounded Rectangle 9"/>
          <p:cNvSpPr/>
          <p:nvPr/>
        </p:nvSpPr>
        <p:spPr>
          <a:xfrm>
            <a:off x="8521903" y="1207008"/>
            <a:ext cx="3011424" cy="5449824"/>
          </a:xfrm>
          <a:prstGeom prst="roundRect">
            <a:avLst/>
          </a:prstGeom>
          <a:solidFill>
            <a:srgbClr val="242938"/>
          </a:solidFill>
          <a:ln w="12700">
            <a:solidFill>
              <a:srgbClr val="3A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A154"/>
                </a:solidFill>
                <a:latin typeface="맑은 고딕"/>
              </a:rPr>
              <a:t>IMPROVEMENT 4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EF0F4"/>
                </a:solidFill>
                <a:latin typeface="맑은 고딕"/>
              </a:rPr>
              <a:t>초보자를 위한 용어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05A5A"/>
                </a:solidFill>
                <a:latin typeface="맑은 고딕"/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852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E05A5A"/>
                </a:solidFill>
                <a:latin typeface="맑은 고딕"/>
              </a:rPr>
              <a:t>•  </a:t>
            </a:r>
            <a:r>
              <a:rPr sz="1700">
                <a:solidFill>
                  <a:srgbClr val="EEF0F4"/>
                </a:solidFill>
                <a:latin typeface="맑은 고딕"/>
              </a:rPr>
              <a:t>"크로매틱", "아르페지오" 같은 용어를 몰라
루틴 시작 자체가 막막할 수 있었음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AC98A"/>
                </a:solidFill>
                <a:latin typeface="맑은 고딕"/>
              </a:rPr>
              <a:t>After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5852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5AC98A"/>
                </a:solidFill>
                <a:latin typeface="맑은 고딕"/>
              </a:rPr>
              <a:t>•  </a:t>
            </a:r>
            <a:r>
              <a:rPr sz="1700">
                <a:solidFill>
                  <a:srgbClr val="EEF0F4"/>
                </a:solidFill>
                <a:latin typeface="맑은 고딕"/>
              </a:rPr>
              <a:t>타이머 화면의 루틴 이름 아래에
쉬운 설명을 자동으로 표시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5AC98A"/>
                </a:solidFill>
                <a:latin typeface="맑은 고딕"/>
              </a:rPr>
              <a:t>•  </a:t>
            </a:r>
            <a:r>
              <a:rPr sz="1700">
                <a:solidFill>
                  <a:srgbClr val="EEF0F4"/>
                </a:solidFill>
                <a:latin typeface="맑은 고딕"/>
              </a:rPr>
              <a:t>크로매틱 · 스케일 · 코드 · 아르페지오 등
흔한 기타 용어 사전 내장</a:t>
            </a:r>
          </a:p>
        </p:txBody>
      </p:sp>
      <p:pic>
        <p:nvPicPr>
          <p:cNvPr id="9" name="Picture 8" descr="p3_ti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495" y="1371600"/>
            <a:ext cx="26822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ounded Rectangle 9"/>
          <p:cNvSpPr/>
          <p:nvPr/>
        </p:nvSpPr>
        <p:spPr>
          <a:xfrm>
            <a:off x="8521903" y="1207008"/>
            <a:ext cx="3011424" cy="5449824"/>
          </a:xfrm>
          <a:prstGeom prst="roundRect">
            <a:avLst/>
          </a:prstGeom>
          <a:solidFill>
            <a:srgbClr val="242938"/>
          </a:solidFill>
          <a:ln w="12700">
            <a:solidFill>
              <a:srgbClr val="3A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A154"/>
                </a:solidFill>
                <a:latin typeface="맑은 고딕"/>
              </a:rPr>
              <a:t>IMPROVEMENT 5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EF0F4"/>
                </a:solidFill>
                <a:latin typeface="맑은 고딕"/>
              </a:rPr>
              <a:t>시간 입력을 더 빠르게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05A5A"/>
                </a:solidFill>
                <a:latin typeface="맑은 고딕"/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852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E05A5A"/>
                </a:solidFill>
                <a:latin typeface="맑은 고딕"/>
              </a:rPr>
              <a:t>•  </a:t>
            </a:r>
            <a:r>
              <a:rPr sz="1700">
                <a:solidFill>
                  <a:srgbClr val="EEF0F4"/>
                </a:solidFill>
                <a:latin typeface="맑은 고딕"/>
              </a:rPr>
              <a:t>분 단위를 매번 직접 타이핑해야 하는 번거로움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AC98A"/>
                </a:solidFill>
                <a:latin typeface="맑은 고딕"/>
              </a:rPr>
              <a:t>After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5852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 b="1">
                <a:solidFill>
                  <a:srgbClr val="5AC98A"/>
                </a:solidFill>
                <a:latin typeface="맑은 고딕"/>
              </a:rPr>
              <a:t>•  </a:t>
            </a:r>
            <a:r>
              <a:rPr sz="1700">
                <a:solidFill>
                  <a:srgbClr val="EEF0F4"/>
                </a:solidFill>
                <a:latin typeface="맑은 고딕"/>
              </a:rPr>
              <a:t>'분' 입력창에 마우스를 올리면
10분 단위 드롭다운이 펼쳐짐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 b="1">
                <a:solidFill>
                  <a:srgbClr val="5AC98A"/>
                </a:solidFill>
                <a:latin typeface="맑은 고딕"/>
              </a:rPr>
              <a:t>•  </a:t>
            </a:r>
            <a:r>
              <a:rPr sz="1700">
                <a:solidFill>
                  <a:srgbClr val="EEF0F4"/>
                </a:solidFill>
                <a:latin typeface="맑은 고딕"/>
              </a:rPr>
              <a:t>클릭 한 번으로 값 입력 (직접 입력도 계속 가능)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 b="1">
                <a:solidFill>
                  <a:srgbClr val="5AC98A"/>
                </a:solidFill>
                <a:latin typeface="맑은 고딕"/>
              </a:rPr>
              <a:t>•  </a:t>
            </a:r>
            <a:r>
              <a:rPr sz="1700">
                <a:solidFill>
                  <a:srgbClr val="EEF0F4"/>
                </a:solidFill>
                <a:latin typeface="맑은 고딕"/>
              </a:rPr>
              <a:t>'시간' 입력창은 대상에서 제외</a:t>
            </a:r>
          </a:p>
        </p:txBody>
      </p:sp>
      <p:pic>
        <p:nvPicPr>
          <p:cNvPr id="9" name="Picture 8" descr="p5_drop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495" y="1371600"/>
            <a:ext cx="26822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ounded Rectangle 9"/>
          <p:cNvSpPr/>
          <p:nvPr/>
        </p:nvSpPr>
        <p:spPr>
          <a:xfrm>
            <a:off x="8521903" y="1207008"/>
            <a:ext cx="3011424" cy="5449824"/>
          </a:xfrm>
          <a:prstGeom prst="roundRect">
            <a:avLst/>
          </a:prstGeom>
          <a:solidFill>
            <a:srgbClr val="242938"/>
          </a:solidFill>
          <a:ln w="12700">
            <a:solidFill>
              <a:srgbClr val="3A4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A154"/>
                </a:solidFill>
                <a:latin typeface="맑은 고딕"/>
              </a:rPr>
              <a:t>IMPROVEMENT 6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EF0F4"/>
                </a:solidFill>
                <a:latin typeface="맑은 고딕"/>
              </a:rPr>
              <a:t>루틴 조기 종료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05A5A"/>
                </a:solidFill>
                <a:latin typeface="맑은 고딕"/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852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E05A5A"/>
                </a:solidFill>
                <a:latin typeface="맑은 고딕"/>
              </a:rPr>
              <a:t>•  </a:t>
            </a:r>
            <a:r>
              <a:rPr sz="1700">
                <a:solidFill>
                  <a:srgbClr val="EEF0F4"/>
                </a:solidFill>
                <a:latin typeface="맑은 고딕"/>
              </a:rPr>
              <a:t>루틴이 끝나기 전엔 다음으로 넘어갈 방법이 없어
남은 시간을 무조건 기다려야 했음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AC98A"/>
                </a:solidFill>
                <a:latin typeface="맑은 고딕"/>
              </a:rPr>
              <a:t>After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5852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5AC98A"/>
                </a:solidFill>
                <a:latin typeface="맑은 고딕"/>
              </a:rPr>
              <a:t>•  </a:t>
            </a:r>
            <a:r>
              <a:rPr sz="1700">
                <a:solidFill>
                  <a:srgbClr val="EEF0F4"/>
                </a:solidFill>
                <a:latin typeface="맑은 고딕"/>
              </a:rPr>
              <a:t>"다음 루틴" 버튼 추가로 언제든 넘어가기 가능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5AC98A"/>
                </a:solidFill>
                <a:latin typeface="맑은 고딕"/>
              </a:rPr>
              <a:t>•  </a:t>
            </a:r>
            <a:r>
              <a:rPr sz="1700">
                <a:solidFill>
                  <a:srgbClr val="EEF0F4"/>
                </a:solidFill>
                <a:latin typeface="맑은 고딕"/>
              </a:rPr>
              <a:t>"정말 다음 루틴으로 넘어가시겠습니까?"
확인 후에만 이동 (실수 방지)</a:t>
            </a:r>
          </a:p>
        </p:txBody>
      </p:sp>
      <p:pic>
        <p:nvPicPr>
          <p:cNvPr id="9" name="Picture 8" descr="p8_sk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495" y="1371600"/>
            <a:ext cx="26822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A154"/>
                </a:solidFill>
                <a:latin typeface="맑은 고딕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EF0F4"/>
                </a:solidFill>
                <a:latin typeface="맑은 고딕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1">
                <a:solidFill>
                  <a:srgbClr val="F2A154"/>
                </a:solidFill>
                <a:latin typeface="맑은 고딕"/>
              </a:rPr>
              <a:t>•  </a:t>
            </a:r>
            <a:r>
              <a:rPr sz="1900">
                <a:solidFill>
                  <a:srgbClr val="EEF0F4"/>
                </a:solidFill>
                <a:latin typeface="맑은 고딕"/>
              </a:rPr>
              <a:t>Vanilla HTML · CSS · JS로 구현 — 별도 설치 없이 index.html 실행만으로 동작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1">
                <a:solidFill>
                  <a:srgbClr val="F2A154"/>
                </a:solidFill>
                <a:latin typeface="맑은 고딕"/>
              </a:rPr>
              <a:t>•  </a:t>
            </a:r>
            <a:r>
              <a:rPr sz="1900">
                <a:solidFill>
                  <a:srgbClr val="EEF0F4"/>
                </a:solidFill>
                <a:latin typeface="맑은 고딕"/>
              </a:rPr>
              <a:t>localStorage로 최근 루틴 저장, Web Audio API로 알림음 생성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1">
                <a:solidFill>
                  <a:srgbClr val="F2A154"/>
                </a:solidFill>
                <a:latin typeface="맑은 고딕"/>
              </a:rPr>
              <a:t>•  </a:t>
            </a:r>
            <a:r>
              <a:rPr sz="1900">
                <a:solidFill>
                  <a:srgbClr val="EEF0F4"/>
                </a:solidFill>
                <a:latin typeface="맑은 고딕"/>
              </a:rPr>
              <a:t>사용자 피드백 6건 모두 반영 완료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2A154"/>
                </a:solidFill>
                <a:latin typeface="맑은 고딕"/>
              </a:rPr>
              <a:t>다음에 고려해볼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424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9AA2B1"/>
                </a:solidFill>
                <a:latin typeface="맑은 고딕"/>
              </a:rPr>
              <a:t>•  </a:t>
            </a:r>
            <a:r>
              <a:rPr sz="1700">
                <a:solidFill>
                  <a:srgbClr val="9AA2B1"/>
                </a:solidFill>
                <a:latin typeface="맑은 고딕"/>
              </a:rPr>
              <a:t>연습 기록 · 통계 화면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9AA2B1"/>
                </a:solidFill>
                <a:latin typeface="맑은 고딕"/>
              </a:rPr>
              <a:t>•  </a:t>
            </a:r>
            <a:r>
              <a:rPr sz="1700">
                <a:solidFill>
                  <a:srgbClr val="9AA2B1"/>
                </a:solidFill>
                <a:latin typeface="맑은 고딕"/>
              </a:rPr>
              <a:t>자주 쓰는 루틴 구성을 이름 붙여 여러 개 저장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